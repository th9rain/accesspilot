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760b4d767e4a7e" /><Relationship Type="http://schemas.openxmlformats.org/officeDocument/2006/relationships/extended-properties" Target="/docProps/app.xml" Id="Rd34d11738aac41b2" /><Relationship Type="http://schemas.openxmlformats.org/officeDocument/2006/relationships/officeDocument" Target="/ppt/presentation.xml" Id="R73497256152f4e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0b9d0bd3d04cd8"/>
  </p:sldMasterIdLst>
  <p:notesMasterIdLst>
    <p:notesMasterId xmlns:r="http://schemas.openxmlformats.org/officeDocument/2006/relationships" r:id="Ra5e5514ae5c64a85"/>
  </p:notesMasterIdLst>
  <p:sldIdLst>
    <p:sldId xmlns:r="http://schemas.openxmlformats.org/officeDocument/2006/relationships" id="256" r:id="R25ebb0ea37f74745"/>
    <p:sldId xmlns:r="http://schemas.openxmlformats.org/officeDocument/2006/relationships" id="257" r:id="Raef68445306a4309"/>
    <p:sldId xmlns:r="http://schemas.openxmlformats.org/officeDocument/2006/relationships" id="258" r:id="R838758745361406c"/>
    <p:sldId xmlns:r="http://schemas.openxmlformats.org/officeDocument/2006/relationships" id="259" r:id="R506431b54fc94af3"/>
    <p:sldId xmlns:r="http://schemas.openxmlformats.org/officeDocument/2006/relationships" id="260" r:id="Rff12d30f59cd4e1c"/>
    <p:sldId xmlns:r="http://schemas.openxmlformats.org/officeDocument/2006/relationships" id="261" r:id="R15e28271096c49bf"/>
    <p:sldId xmlns:r="http://schemas.openxmlformats.org/officeDocument/2006/relationships" id="262" r:id="R26cf4af4847946e5"/>
    <p:sldId xmlns:r="http://schemas.openxmlformats.org/officeDocument/2006/relationships" id="263" r:id="Rfd2f73b5ee6a484f"/>
    <p:sldId xmlns:r="http://schemas.openxmlformats.org/officeDocument/2006/relationships" id="264" r:id="Rf82e4187140f44b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0b9d0bd3d04cd8" /><Relationship Type="http://schemas.openxmlformats.org/officeDocument/2006/relationships/theme" Target="/ppt/theme/theme1.xml" Id="R69f422b542dc446c" /><Relationship Type="http://schemas.openxmlformats.org/officeDocument/2006/relationships/notesMaster" Target="/ppt/notesMasters/notesMaster1.xml" Id="Ra5e5514ae5c64a85" /><Relationship Type="http://schemas.openxmlformats.org/officeDocument/2006/relationships/presProps" Target="/ppt/presProps.xml" Id="R317363af0a124477" /><Relationship Type="http://schemas.openxmlformats.org/officeDocument/2006/relationships/viewProps" Target="/ppt/viewProps.xml" Id="R7aa3e819660f41ec" /><Relationship Type="http://schemas.openxmlformats.org/officeDocument/2006/relationships/tableStyles" Target="/ppt/tableStyles.xml" Id="R53ecd0d540ee4f69" /><Relationship Type="http://schemas.openxmlformats.org/officeDocument/2006/relationships/slide" Target="/ppt/slides/slide1.xml" Id="R25ebb0ea37f74745" /><Relationship Type="http://schemas.openxmlformats.org/officeDocument/2006/relationships/slide" Target="/ppt/slides/slide2.xml" Id="Raef68445306a4309" /><Relationship Type="http://schemas.openxmlformats.org/officeDocument/2006/relationships/slide" Target="/ppt/slides/slide3.xml" Id="R838758745361406c" /><Relationship Type="http://schemas.openxmlformats.org/officeDocument/2006/relationships/slide" Target="/ppt/slides/slide4.xml" Id="R506431b54fc94af3" /><Relationship Type="http://schemas.openxmlformats.org/officeDocument/2006/relationships/slide" Target="/ppt/slides/slide5.xml" Id="Rff12d30f59cd4e1c" /><Relationship Type="http://schemas.openxmlformats.org/officeDocument/2006/relationships/slide" Target="/ppt/slides/slide6.xml" Id="R15e28271096c49bf" /><Relationship Type="http://schemas.openxmlformats.org/officeDocument/2006/relationships/slide" Target="/ppt/slides/slide7.xml" Id="R26cf4af4847946e5" /><Relationship Type="http://schemas.openxmlformats.org/officeDocument/2006/relationships/slide" Target="/ppt/slides/slide8.xml" Id="Rfd2f73b5ee6a484f" /><Relationship Type="http://schemas.openxmlformats.org/officeDocument/2006/relationships/slide" Target="/ppt/slides/slide9.xml" Id="Rf82e4187140f44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43c37efb0d945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1d729ec1784f8d" /><Relationship Type="http://schemas.openxmlformats.org/officeDocument/2006/relationships/notesMaster" Target="/ppt/notesMasters/notesMaster1.xml" Id="Rc6101ca8b1ca46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edf048567f4a80" /><Relationship Type="http://schemas.openxmlformats.org/officeDocument/2006/relationships/notesMaster" Target="/ppt/notesMasters/notesMaster1.xml" Id="R82f36b34f99049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260fccec3b485f" /><Relationship Type="http://schemas.openxmlformats.org/officeDocument/2006/relationships/notesMaster" Target="/ppt/notesMasters/notesMaster1.xml" Id="R5f34cee9615148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aa8a153e1445de" /><Relationship Type="http://schemas.openxmlformats.org/officeDocument/2006/relationships/notesMaster" Target="/ppt/notesMasters/notesMaster1.xml" Id="R4db49cfd0fde4f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bae845442c4d71" /><Relationship Type="http://schemas.openxmlformats.org/officeDocument/2006/relationships/notesMaster" Target="/ppt/notesMasters/notesMaster1.xml" Id="R063de82afb9340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ac2fb822c34e9b" /><Relationship Type="http://schemas.openxmlformats.org/officeDocument/2006/relationships/notesMaster" Target="/ppt/notesMasters/notesMaster1.xml" Id="R4193bb93ee5d4d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56c3d484d04135" /><Relationship Type="http://schemas.openxmlformats.org/officeDocument/2006/relationships/notesMaster" Target="/ppt/notesMasters/notesMaster1.xml" Id="R14b19c73596444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e0ea5c7c154a5a" /><Relationship Type="http://schemas.openxmlformats.org/officeDocument/2006/relationships/notesMaster" Target="/ppt/notesMasters/notesMaster1.xml" Id="R476a6265cdf743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d8d0d6afa94da9" /><Relationship Type="http://schemas.openxmlformats.org/officeDocument/2006/relationships/notesMaster" Target="/ppt/notesMasters/notesMaster1.xml" Id="Rfee036d7f2a149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430047dfbd44c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2d471f2bb0c4fe9" /><Relationship Type="http://schemas.openxmlformats.org/officeDocument/2006/relationships/slideLayout" Target="/ppt/slideLayouts/slideLayout2.xml" Id="R0b1040c377f749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1040c377f749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1ef6180cfd40a1" /><Relationship Type="http://schemas.openxmlformats.org/officeDocument/2006/relationships/notesSlide" Target="/ppt/notesSlides/notesSlide1.xml" Id="R8673cc2af09344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7a7be0aedf4f52" /><Relationship Type="http://schemas.openxmlformats.org/officeDocument/2006/relationships/notesSlide" Target="/ppt/notesSlides/notesSlide2.xml" Id="R9c20e52b054d4a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27e19749dc413b" /><Relationship Type="http://schemas.openxmlformats.org/officeDocument/2006/relationships/notesSlide" Target="/ppt/notesSlides/notesSlide3.xml" Id="Rf8db470115834d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8aa25b67be4892" /><Relationship Type="http://schemas.openxmlformats.org/officeDocument/2006/relationships/notesSlide" Target="/ppt/notesSlides/notesSlide4.xml" Id="R5d4918092be646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450e364de04a81" /><Relationship Type="http://schemas.openxmlformats.org/officeDocument/2006/relationships/notesSlide" Target="/ppt/notesSlides/notesSlide5.xml" Id="Rdef8620cfd1b49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a9b31de83641d6" /><Relationship Type="http://schemas.openxmlformats.org/officeDocument/2006/relationships/notesSlide" Target="/ppt/notesSlides/notesSlide6.xml" Id="R79718f7a86c84d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592b3ade024b30" /><Relationship Type="http://schemas.openxmlformats.org/officeDocument/2006/relationships/notesSlide" Target="/ppt/notesSlides/notesSlide7.xml" Id="R8a19cf35e5554d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2cc865ccd34f26" /><Relationship Type="http://schemas.openxmlformats.org/officeDocument/2006/relationships/notesSlide" Target="/ppt/notesSlides/notesSlide8.xml" Id="R3dc52253a8aa4e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effec425f544e5" /><Relationship Type="http://schemas.openxmlformats.org/officeDocument/2006/relationships/notesSlide" Target="/ppt/notesSlides/notesSlide9.xml" Id="Re4762f00293e410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02DD6F-B3DB-45D3-B4AA-4D1DE43C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9BE7CF42-8255-4021-9284-6FB43703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C5238180-3A8F-44AA-A53C-505D0EFE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ACCESSPILOT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60253-C287-44C0-AE1D-25DF3A53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42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3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让老人面对复杂手机页面时，不再独自冒险。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009AC-773B-4A02-A209-393FAAD7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端侧看屏幕、端侧先脱敏；云端只做复杂规划；所有高风险动作必须确认或拒绝。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0EA2B-0A6A-401C-913D-0A25FE2E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ED"/>
          </a:solidFill>
          <a:ln xmlns:a="http://schemas.openxmlformats.org/drawingml/2006/main" w="9525">
            <a:solidFill>
              <a:srgbClr val="2F6F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2FAA3-289A-41FD-98AD-8E258E85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F6F4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2F6F46"/>
                </a:solidFill>
                <a:latin typeface="Microsoft YaHei UI"/>
                <a:ea typeface="Microsoft YaHei UI"/>
                <a:cs typeface="Microsoft YaHei UI"/>
              </a:rPr>
              <a:t>Edge privacy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A47D7-C53A-4133-9837-A2A6D5DC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385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2D6C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9420E-27E6-4C6F-A782-F8F7F3AE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766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rPr>
              <a:t>Cloud planning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8850F-2810-4085-9DBC-11843F44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385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F"/>
          </a:solidFill>
          <a:ln xmlns:a="http://schemas.openxmlformats.org/drawingml/2006/main" w="9525">
            <a:solidFill>
              <a:srgbClr val="C94A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9CE5C-5025-4D19-B249-344FAAA5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766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rPr>
              <a:t>Guarded 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52A96-F022-4A97-90A8-B474DC01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38600"/>
            <a:ext cx="485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B9CBE-DD80-47D2-A391-8F5C7B25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4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2F6F46"/>
                </a:solidFill>
                <a:latin typeface="Microsoft YaHei UI"/>
                <a:ea typeface="Microsoft YaHei UI"/>
                <a:cs typeface="Microsoft YaHei UI"/>
              </a:rPr>
              <a:t>核心原则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CBB13-71F8-4303-90F4-7FBBD4AA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原始屏幕留在端侧，云端只接收脱敏后的任务语义。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BEACB-9A40-4E00-AA05-BB2A3344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23950"/>
            <a:ext cx="2857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E4FAAE-4EBC-4A62-94EF-EB0587AC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239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32B8F-5F75-454D-BD91-79B776BB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27635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看不懂页面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1219A-EC4A-4C06-BF79-5938B13A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581150"/>
            <a:ext cx="2514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表单、弹窗、权限、设置入口让用户卡住。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1DA621-4D16-4CF5-89A1-6C6644DA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14600"/>
            <a:ext cx="2857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CA9FFB-65C7-49D6-9CDD-0DF8552C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146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F7013-5C7F-4C19-9650-A94AC656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6700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怕误操作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54D211-9933-4EEA-85A7-62901BD2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71800"/>
            <a:ext cx="2514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提交、验证码、付款、授权都可能产生真实后果。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33024A-3213-4188-A783-682BBEC0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2857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8972DD-AF47-4C17-81DB-B88871AC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A68D89-400F-4285-B776-B669E736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5765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不敢求助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8A3D89-E3BE-49AF-A97A-6939B9FD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62450"/>
            <a:ext cx="2514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发完整截图给家人，也可能泄露身份证和手机号。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A43584-5E2E-4E16-89E7-D0013BB9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531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Hackathon pitch deck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394833-83EE-47E2-8854-78FF454A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7569CE-71B2-4A3A-8F8A-3F290912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1827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0">
                <a:solidFill>
                  <a:srgbClr val="718277"/>
                </a:solidFill>
                <a:latin typeface="Microsoft YaHei UI"/>
                <a:ea typeface="Microsoft YaHei UI"/>
                <a:cs typeface="Microsoft YaHei UI"/>
              </a:rPr>
              <a:t>AccessPilot | Elderly-first edge-cloud GUI agent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0E9271-D008-41B9-8399-846F72A1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921134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6B7491-5877-4390-AAD3-05FC4295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D9021D5B-539D-480C-9C37-2B761795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CDB6AF34-6D85-4007-97C5-7B756E87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CFB62-E7A2-41CF-9C83-DB1A37C0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问题不是不会用手机，而是风险出现在操作的最后一步。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5696B-5B2B-485F-A065-060B4019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AccessPilot 选择从老人最容易卡住、最容易出错的手机场景切入。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5A721-9AD3-4A5D-8EBF-F22E7364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2004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078D8-80DF-4AD0-BE08-3BA9E17F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F4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2F6F46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E963D-CE17-4D77-A14B-17AFE0AA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765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复杂页面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B00C7-6587-4987-B9CA-B7A2141E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95EF6-6FEF-47E4-AE88-4C29559F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266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看不懂字段、按钮、弹窗</a:t>
            </a:r>
          </a:p>
          <a:p xmlns:a="http://schemas.openxmlformats.org/drawingml/2006/main">
            <a:pPr algn="l">
              <a:defRPr sz="1125" b="0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不知道下一步点哪里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A355B-73F4-4FFB-A473-2D183995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结果：放弃办理或反复求助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8D42B-9235-4711-8C0B-D8790900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32004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FE391-2105-4ED6-9E60-C13752CF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A75089-482C-419F-87F7-7E3C8A99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765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高风险动作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E7015D-82D3-4ED6-894F-0F9DE50E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5280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03A743-179A-4518-96A2-C3AF2B48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38550"/>
            <a:ext cx="266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验证码、付款、授权、提交</a:t>
            </a:r>
          </a:p>
          <a:p xmlns:a="http://schemas.openxmlformats.org/drawingml/2006/main">
            <a:pPr algn="l">
              <a:defRPr sz="1125" b="0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一步错误就可能造成损失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7F4AF-3DA8-428B-AC06-984E250D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38650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结果：被骗、误付款、误提交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D9E07F-6108-4D8A-9B85-988E96F3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32004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9E4424-1D58-4EFD-B5B4-5FB45F1E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F4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2F6F46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4A00FC-8B23-43E2-9332-5BC49ABD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765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远程协助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F190C1-3565-41A3-B6E1-59077B3A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5280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9060D0-D36E-47AB-857F-F2F912EE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8550"/>
            <a:ext cx="266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家人想帮忙，但完整截图</a:t>
            </a:r>
          </a:p>
          <a:p xmlns:a="http://schemas.openxmlformats.org/drawingml/2006/main">
            <a:pPr algn="l">
              <a:defRPr sz="1125" b="0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包含身份证、手机号、验证码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F9C0DD-9FB2-4E8A-AB9B-5BA6ADB6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38650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结果：帮助和隐私保护冲突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6738D0-ED89-4969-9068-9DDB46DF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86B8C5-5865-4DA3-8452-1B2A7360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53075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产品机会：把“看不懂 / 不敢点 / 不敢发截图”变成一个可解释、可确认、可脱敏的 Agent 流程。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466664-2DD8-435E-AAC2-59351455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5D31E7-9B24-4F86-A6C4-4468A619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1827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0">
                <a:solidFill>
                  <a:srgbClr val="718277"/>
                </a:solidFill>
                <a:latin typeface="Microsoft YaHei UI"/>
                <a:ea typeface="Microsoft YaHei UI"/>
                <a:cs typeface="Microsoft YaHei UI"/>
              </a:rPr>
              <a:t>AccessPilot | Gemma Hackathon Pitch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DCEA6D-94E9-407D-B4BA-F4368BC4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719384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81F875-13F9-420A-840A-8B3114FC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97FBCEA5-D5F1-44C8-A6D0-563D2EDD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495A88BF-C2BE-4685-B899-F3839397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2BA88-A54A-44FA-93A2-6AE8106D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71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AccessPilot 给用户一个冷静的下一步，而不是失控的自动驾驶。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2D49E-E886-497C-AFBB-5577446B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733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它能读屏、解释、规划、确认和阻断，始终把高风险操作的决定权留给人。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5F408-648D-4A8D-BA29-94F179F0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1907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27CEB2-2EDD-4F36-BBD5-97F8CB52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20002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E2090-F9F2-48BF-A214-14837C1C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" y="2466975"/>
            <a:ext cx="5257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59012-6234-4ACE-BACA-5C6656C5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AB078-42EC-4532-B2C5-5571AEE0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F"/>
          </a:solidFill>
          <a:ln xmlns:a="http://schemas.openxmlformats.org/drawingml/2006/main" w="9525">
            <a:solidFill>
              <a:srgbClr val="F2B4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D379E-9DE7-4C2F-8B0D-AC18A8FF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4524F-1C29-4530-8719-3546DB83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Security verification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2D22C7-4851-4804-9020-2CF8C131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7662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rPr>
              <a:t>Enter SMS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29C74D-29DF-43F9-8B5A-FC6E9F1B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671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Continue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C62413-136C-4594-8A7C-036BEE53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37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老人手机页面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2A336B-F40D-4A1E-9B79-44F99C06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71900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5894B8-9D7E-473B-B5A4-AEDB8ACD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28900"/>
            <a:ext cx="1714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BB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FE8B1D-A2F2-40E8-8863-06D1616A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432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1. 看见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48F799-B4AB-48A4-847D-FA8B72B6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28950"/>
            <a:ext cx="140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E0AA60-DAAD-4573-8FAF-1DDF84B4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24200"/>
            <a:ext cx="1409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端侧观察屏幕、OCR、UI 节点和触发事件。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CD9267-BF86-4830-8160-6CE59D47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71825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D1EE56-E27A-4A16-9866-7B0BDC58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28900"/>
            <a:ext cx="2000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2"/>
          </a:solidFill>
          <a:ln xmlns:a="http://schemas.openxmlformats.org/drawingml/2006/main" w="9525">
            <a:solidFill>
              <a:srgbClr val="BCCBB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846AD7-D3D6-4F31-90C6-007E5F26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432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2. 脱敏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6C5208-A41F-4090-9F1C-ED6E29D8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28950"/>
            <a:ext cx="1695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F62279-5573-432B-8979-A1047548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1695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身份证、手机号、验证码和付款信息先留在端侧。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CC687A-547C-4796-8CBB-88529900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71825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A47E34-7A3D-47D1-9F39-EC4D219F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28900"/>
            <a:ext cx="2095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BB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E18B42-CAD7-4E84-BA47-9ED27A78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7432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3. 规划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1D8AB6-6DA6-44CA-90DE-616D81FA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028950"/>
            <a:ext cx="1790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47D0C6-B8EF-49EC-98A6-6D3D45A2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12420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复杂任务上云；云端只看脱敏后的结构化观察。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D62CA5-3081-4154-93E9-F9DA0D61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91050"/>
            <a:ext cx="2266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BCCBB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1C4E9F-8D29-4248-AFE8-1A5A7903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7053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4. 守卫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DD78DD-45A6-4328-AAC6-44DC6F93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991100"/>
            <a:ext cx="1962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F66293-1111-4E95-AD43-9689CBAB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86350"/>
            <a:ext cx="1962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付款、验证码、提交、授权等动作必须确认或拒绝。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FF0363-1218-4DBA-A4B4-DEEAF57C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010150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6A23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E6A23C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40C0AB-8D46-4E6E-B753-4B0ADF2B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91050"/>
            <a:ext cx="2190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BB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3CAD4A-15C4-41A0-BA3F-12A002E9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0535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5. 执行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CA07BB-050E-4BB1-BB6E-F0816F22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91100"/>
            <a:ext cx="1885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FC5EA4-1F17-4492-94E4-6312DAE2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86350"/>
            <a:ext cx="1885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只允许 allowlist 工具执行低风险动作。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9B7D01-E7D0-4974-A701-26B6DE06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AEC8DF-BB7F-4F25-BAE8-E466397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1827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0">
                <a:solidFill>
                  <a:srgbClr val="718277"/>
                </a:solidFill>
                <a:latin typeface="Microsoft YaHei UI"/>
                <a:ea typeface="Microsoft YaHei UI"/>
                <a:cs typeface="Microsoft YaHei UI"/>
              </a:rPr>
              <a:t>AccessPilot | Gemma Hackathon Pitch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E363C2-7196-4178-B599-FFD8B783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704673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1267E8-432A-472E-B6B2-4E4CAE2E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8E157368-2403-4800-B4BC-ECF41ACF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592B3E6B-7384-4956-9FBC-F61C11B4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DEMO LOOPS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508CB-659C-4C73-8457-C7B5B264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09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四条稳定 demo loop 覆盖“帮我看、帮我点、帮我拦、帮我求助”。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6617B-B02E-4832-8FE2-9FF33EF7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724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48787-85DA-481D-8960-92C29730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76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E68A8-B8C6-45FF-ACDE-827873C5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F4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F6F46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2E838-809B-4EC5-A80B-45ACCE4D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812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桌面表单助手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25044-BB8B-45B4-947D-1CF7BA13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432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识别字段、发现缺失信息、提交前停住确认。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B0CA6-3D26-4BE2-AF3A-AD7D5A18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623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47ECDF-CBF9-4BE6-B57A-C39C157F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57550"/>
            <a:ext cx="3352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F6F4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2F6F46"/>
                </a:solidFill>
                <a:latin typeface="Microsoft YaHei UI"/>
                <a:ea typeface="Microsoft YaHei UI"/>
                <a:cs typeface="Microsoft YaHei UI"/>
              </a:rPr>
              <a:t>表单理解 / ask_user / confirmation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5B6F1-7F64-4F3F-8D9D-62EB45F1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4724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8366E-C151-44A3-9E70-34E3ABA8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76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20CA30-FDE1-4707-B347-3D6FE2D5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4315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C3ACF4-E717-4AED-87F4-E7CC9733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手机截图导航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D8EDD7-BAA0-45BD-922B-3177C00C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432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解释当前设置页面，告诉用户下一步点哪里。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CBB32-BCC2-401E-B5BF-9E90BB0E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623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BAE08-DEDE-4692-B912-2026D8F9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57550"/>
            <a:ext cx="3352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rPr>
              <a:t>UI 定位 / 低风险本地建议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595B19-DA99-4BC4-9AC2-EF072FF1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24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3FA4AE-F56D-4633-BC81-369B9F5B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76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ACD991-3B3B-4ECC-9DA4-91E10101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D3B089-7E2B-4637-8F80-C18B8B3F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9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防诈骗守卫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773EAA-E707-46E7-96AA-07917A61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5295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遇到验证码、付款、授权时阻断并解释风险。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534BD4-5B31-490E-9A37-2CFCB295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72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5BB3FF-8A0A-4591-9525-AF045F3A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67300"/>
            <a:ext cx="3352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rPr>
              <a:t>risk keyword / deny / safe alternative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65A3BB-ACF5-4309-9B45-69989E06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43350"/>
            <a:ext cx="4724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9321F4-EC5B-4105-A22A-400DAD15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43350"/>
            <a:ext cx="76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AC75AD-10BC-427E-A9CB-9DEF7174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5290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A23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E6A23C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053494-75E9-4E40-9FB7-9B77F419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910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家人协助模式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065132-ECA7-4D37-AFB4-8A9392B9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5295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生成脱敏摘要，而不是转发完整敏感截图。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368C1F-3E02-4878-9453-2D16B7D0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72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BED7DE-EE30-427A-A1F5-62512166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67300"/>
            <a:ext cx="3352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E6A23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E6A23C"/>
                </a:solidFill>
                <a:latin typeface="Microsoft YaHei UI"/>
                <a:ea typeface="Microsoft YaHei UI"/>
                <a:cs typeface="Microsoft YaHei UI"/>
              </a:rPr>
              <a:t>redacted summary / family assist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068D3B-895F-49CF-98EF-68524FC6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V1 当前是 deterministic mock：优先保证路演稳定，再逐步替换真实 Gemma / OpenClaw 后端。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ECC149-C004-45C1-A7CB-DE9138D7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3D74E3-7E81-499D-A5A5-AD59D6F4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1827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0">
                <a:solidFill>
                  <a:srgbClr val="718277"/>
                </a:solidFill>
                <a:latin typeface="Microsoft YaHei UI"/>
                <a:ea typeface="Microsoft YaHei UI"/>
                <a:cs typeface="Microsoft YaHei UI"/>
              </a:rPr>
              <a:t>AccessPilot | Gemma Hackathon Pitch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EEC3DF-2266-4E40-BD45-65BC1C0C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281544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CDCFE8-41BB-489E-AEBB-9B758A73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6A776EF4-3176-432E-887B-123CEA03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EE73B6EC-772B-4A9B-8CD1-156B04FF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35D4E-30BB-4435-ACBC-4CA08631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57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端侧负责看见和保护隐私，云端负责复杂规划。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C1731-609A-4126-A810-B88228C6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AccessPilot 的关键不是“全部上云”，而是每一步都有清楚边界。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80713-DD9E-416B-9291-65A1C0EF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29908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7"/>
          </a:solidFill>
          <a:ln xmlns:a="http://schemas.openxmlformats.org/drawingml/2006/main" w="9525">
            <a:solidFill>
              <a:srgbClr val="BFD1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36116-55A1-40C8-9005-3C085469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4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2F6F46"/>
                </a:solidFill>
                <a:latin typeface="Microsoft YaHei UI"/>
                <a:ea typeface="Microsoft YaHei UI"/>
                <a:cs typeface="Microsoft YaHei UI"/>
              </a:rPr>
              <a:t>Android Edge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47991-2163-440C-A871-6DD42373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266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BB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FD85E-AF8E-4578-B1B1-FEC28438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Always On Sentinel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C547A-058B-4245-9D15-AF1A4A04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1962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94528-007E-4D18-BA3D-83C98CF8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480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事件驱动，不持续录屏；只在风险或停滞时轻量提醒。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022F0-038E-4BB4-BCF8-1A5DA29F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2266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BB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97832-DFDA-494B-BCD2-80E53B6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767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Trigger Assistant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B523B9-FE9D-4B13-AA82-33AB9B03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962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E74A2-9B00-4279-ADC3-B2C38274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用户点击悬浮按钮、通知或语音入口后主动触发。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A079B-9E42-4888-8D22-0C0D4EF7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71875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6F4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F6F46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5AA45-EB6B-483D-970E-67434E61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86000"/>
            <a:ext cx="32194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1BF61F-AE15-4315-98DC-89A38FBD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955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Privacy + Routing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343ACD-71D4-4ECA-AC1C-448D0F0C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527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2"/>
          </a:solidFill>
          <a:ln xmlns:a="http://schemas.openxmlformats.org/drawingml/2006/main" w="9525">
            <a:solidFill>
              <a:srgbClr val="BCCBB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7FB5EA-1192-4BFA-96EE-3795D018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670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Privacy Firewall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662185-2084-45E0-B729-18D89617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52800"/>
            <a:ext cx="2076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AC41C9-72E4-42BD-A1E7-3B291CB3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480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原图、完整 OCR、身份证、手机号、验证码默认留端侧。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0AD5E7-B79C-450A-9F7A-3C871D40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624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BCCBB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D9CB81-C794-4FFD-813E-07CC9809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767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Local Router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426C6C-F82F-4FC8-82C7-23AAD3AE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62450"/>
            <a:ext cx="2076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DF832B-B13A-420C-A38D-3AD830C9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577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local_only / cloud_planner / ask_user / stop。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B467D8-B2FD-41A1-976A-F1AE8E2A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71875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552263-234F-404A-9197-14ADF579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33337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FD0F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2BA82F-6CB8-4F31-A3C9-35BDA97F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rPr>
              <a:t>Cloud + Tools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BDCC87-D864-417A-9A76-7936D1CB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2419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BB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0CF46D-CE22-4104-93BF-C9BD38D2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Cloud Planner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B72891-03D3-4905-9F77-915D5ACE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52800"/>
            <a:ext cx="2114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24E32B-B3D7-4113-90BF-A50C883C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480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只接收脱敏 ScreenObservation；输出一个 NextAction。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9CFE25-1CA1-4D59-BE04-0938EF3C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62400"/>
            <a:ext cx="2419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BB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DED4E5-EB10-478B-930C-2FCF57FB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7670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OpenClaw Gateway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9F9BFC-1FB1-4BF6-BE81-390541BF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62450"/>
            <a:ext cx="2114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4AFC6E-F540-4AA2-8477-D48A5F61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只执行 allowlist 工具；高风险动作先过 Guard。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837039-6494-4B28-90FE-A431EE82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72125"/>
            <a:ext cx="561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18C316-A333-42EC-AF2C-B07E9D56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67690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EdgeEvent → ScreenObservation → RoutingDecision → NextAction → GuardDecision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8820DF-C943-420A-A6C4-9F7918B2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97ED52-F57C-4937-BE3C-AF5AE184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1827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0">
                <a:solidFill>
                  <a:srgbClr val="718277"/>
                </a:solidFill>
                <a:latin typeface="Microsoft YaHei UI"/>
                <a:ea typeface="Microsoft YaHei UI"/>
                <a:cs typeface="Microsoft YaHei UI"/>
              </a:rPr>
              <a:t>AccessPilot | Gemma Hackathon Pitch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7761C8-A1D4-49AB-9300-49C8E0E7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168310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BFE113-8CD1-4824-8019-9195AD2B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23DCA186-E49F-4C8C-A119-0D8B1AD1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7845CF6B-31CF-429F-B550-50A28283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PRIVACY FIREWALL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2BBBE-0FE1-4453-829D-8A346626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上云不等于泄露：云端只得到脱敏后的任务语义。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67ECF-736D-4869-A975-AE07FE27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857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F"/>
          </a:solidFill>
          <a:ln xmlns:a="http://schemas.openxmlformats.org/drawingml/2006/main" w="9525">
            <a:solidFill>
              <a:srgbClr val="F0BC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454D0-DB93-42C9-B87E-346CCD7E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rPr>
              <a:t>端侧原始事实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508EF-BA6D-431E-B0AD-46AEA7F5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原始截图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3431D-AFBF-4513-9E3B-A97CB94C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384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rPr>
              <a:t>留在设备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65F9A-0263-4A61-AA72-8EBE312A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完整 OCR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F16DF-CA39-4552-AAA3-BF6EF907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623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rPr>
              <a:t>留在设备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A1EE5-667D-43D0-B9FB-80766837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身份证号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88698-C01D-405B-8540-05D1D639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861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rPr>
              <a:t>留在设备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26066-A5EA-4395-8A9A-8921AB8B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手机号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F47AA-9337-40F7-8D1F-C1001E7A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100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rPr>
              <a:t>留在设备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FB0A2-2E01-4D10-AC09-2E299E8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验证码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34BDD-AD02-40D9-9258-00FA58A2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338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rPr>
              <a:t>留在设备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F3C09-B873-4918-83B5-5C688433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付款凭据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1D498-C9B3-4A9F-A608-964A5E4A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577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rPr>
              <a:t>留在设备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2432D-6B40-4C9E-8735-4DA16FF8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4290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5FEEB9-CE81-4522-888E-65406702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2905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2E47B6-7CBA-41D5-AC5C-D7167FC8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431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F4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F6F46"/>
                </a:solidFill>
                <a:latin typeface="Microsoft YaHei UI"/>
                <a:ea typeface="Microsoft YaHei UI"/>
                <a:cs typeface="Microsoft YaHei UI"/>
              </a:rPr>
              <a:t>Privacy Firewall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3E953F-6C39-4DEC-8D5C-75260306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956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7"/>
          </a:solidFill>
          <a:ln xmlns:a="http://schemas.openxmlformats.org/drawingml/2006/main" w="9525">
            <a:solidFill>
              <a:srgbClr val="2F6F4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34345C-AF06-45E5-977D-CC2C3DF5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337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F6F4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2F6F46"/>
                </a:solidFill>
                <a:latin typeface="Microsoft YaHei UI"/>
                <a:ea typeface="Microsoft YaHei UI"/>
                <a:cs typeface="Microsoft YaHei UI"/>
              </a:rPr>
              <a:t>redaction_level: strict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3C2FE9-50CD-4310-AF5C-7B7332DE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337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2D6C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A099FA-68F2-42AA-8710-0E669A04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718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rPr>
              <a:t>cloud_safe=true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6E9F4D-9888-4582-93B1-58744FD1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719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F"/>
          </a:solidFill>
          <a:ln xmlns:a="http://schemas.openxmlformats.org/drawingml/2006/main" w="9525">
            <a:solidFill>
              <a:srgbClr val="C94A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93E717-814F-4DFC-95FB-C4703EDA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1000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rPr>
              <a:t>raw_data_scope: on_device_only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FD4474-7D83-4343-8FFC-82E0733C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005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959D45-C088-422A-9529-76769211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529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未脱敏或 cloud_safe=false 时，路由直接阻止上云。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5045A7-51B3-4F78-A270-CDEC8062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290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0F01E2-670D-4BAC-8892-EAD904A6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2905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FD0F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C9CD37-7E04-4FB2-8C87-2DD95323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431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rPr>
              <a:t>云端任务语义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686473-68D0-4E48-9A7E-4DDDF86A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384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页面类型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A66BF1-D0FF-4369-A866-34F32600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384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rPr>
              <a:t>可上云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A3A947-0DE2-4325-B33E-63DE0054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623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UI 元素摘要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DEDB7E-687A-4525-8274-D0930DE7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623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rPr>
              <a:t>可上云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8C20A7-FD22-4B15-A7C3-707B064E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861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敏感字段类别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7C59FC-3760-4DA0-BF9B-65EEECCE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861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rPr>
              <a:t>可上云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812176-920A-40A8-B1F9-32601AE9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100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用户目标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D6A7C7-C362-47C6-97DF-90544F04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rPr>
              <a:t>可上云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C68520-53B9-4BA8-A0F5-812720EB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338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可用工具列表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D0371A-7E3F-4FD0-B518-4419ABED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338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rPr>
              <a:t>可上云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4E81BC-7888-499C-9DEE-7FFD5AF5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577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脱敏任务状态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2298E3-A139-4F7C-8B33-7B503BB3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577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rPr>
              <a:t>可上云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117676-6017-4925-B1F7-BECF025F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1057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A51819-DB0F-4401-BD47-9CF3E3A6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769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一句话：端侧拥有原始事实，云侧只拥有脱敏后的任务语义。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73CE92-2A12-4F76-8E53-C3015208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8D559D-B2D9-4B53-BC71-AA527622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1827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0">
                <a:solidFill>
                  <a:srgbClr val="718277"/>
                </a:solidFill>
                <a:latin typeface="Microsoft YaHei UI"/>
                <a:ea typeface="Microsoft YaHei UI"/>
                <a:cs typeface="Microsoft YaHei UI"/>
              </a:rPr>
              <a:t>AccessPilot | Gemma Hackathon Pitch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23E627-FB51-4E77-836F-EF1A592A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451852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A60E9F-7505-47ED-AFED-30F720F3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2BD64BAC-D926-40E0-8CD7-1C769464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B7EF685E-1851-4525-8546-2AD6DAEE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SAFETY 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16C42-2326-4D76-80EE-54319C30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95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Safety Guard 让 Agent 在关键动作前停下来。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3BB22-51E1-42F1-960B-4AF6FBD0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209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78771-FEE7-490B-B9CD-AA5D9658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NextAction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4FCBF-2AED-4758-B670-15A5B6F6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Planner 的建议动作</a:t>
            </a:r>
          </a:p>
          <a:p xmlns:a="http://schemas.openxmlformats.org/drawingml/2006/main">
            <a:pPr algn="l">
              <a:defRPr sz="8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不是最终执行命令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5264E-C1CD-45F4-A1ED-B606BCD8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479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99EE9-E11D-42B0-B711-77E61198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14550"/>
            <a:ext cx="2476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E6C6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0990C-B16B-4689-89B4-AC7389F0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431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A23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E6A23C"/>
                </a:solidFill>
                <a:latin typeface="Microsoft YaHei UI"/>
                <a:ea typeface="Microsoft YaHei UI"/>
                <a:cs typeface="Microsoft YaHei UI"/>
              </a:rPr>
              <a:t>Risk classifier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7F9C5F-6C42-4A37-AD7E-2E7EF847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860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low / medium / high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E91D1-1405-4A97-BAA9-33BAE1EE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2895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F887A-0AB7-42B9-B239-046E5E1D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6A23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E6A23C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B8DFA-0E0E-484E-AF11-CFF58A40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7"/>
          </a:solidFill>
          <a:ln xmlns:a="http://schemas.openxmlformats.org/drawingml/2006/main" w="9525">
            <a:solidFill>
              <a:srgbClr val="2F6F4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A1CAF-8537-47A4-AD40-5986AD11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812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4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F6F46"/>
                </a:solidFill>
                <a:latin typeface="Microsoft YaHei UI"/>
                <a:ea typeface="Microsoft YaHei UI"/>
                <a:cs typeface="Microsoft YaHei UI"/>
              </a:rPr>
              <a:t>allow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41EDB-6A5C-46C4-AF35-E859EA86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6700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低风险、可逆动作</a:t>
            </a:r>
          </a:p>
          <a:p xmlns:a="http://schemas.openxmlformats.org/drawingml/2006/main">
            <a:pPr algn="l">
              <a:defRPr sz="863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例如打开设置页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977EA-4AB8-4D42-9A76-5E34AAA1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147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E6A2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B8AD34-E8C1-4C98-846C-3BAAD398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052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A23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E6A23C"/>
                </a:solidFill>
                <a:latin typeface="Microsoft YaHei UI"/>
                <a:ea typeface="Microsoft YaHei UI"/>
                <a:cs typeface="Microsoft YaHei UI"/>
              </a:rPr>
              <a:t>require_confirmation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9E9519-4B27-4414-A4E6-30BFC16F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9095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提交、发送、授权前</a:t>
            </a:r>
          </a:p>
          <a:p xmlns:a="http://schemas.openxmlformats.org/drawingml/2006/main">
            <a:pPr algn="l">
              <a:defRPr sz="863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必须让用户确认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5F28F7-FEF3-4D9A-9756-F1AFA270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386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F"/>
          </a:solidFill>
          <a:ln xmlns:a="http://schemas.openxmlformats.org/drawingml/2006/main" w="9525">
            <a:solidFill>
              <a:srgbClr val="C94A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CDE569-61AB-4E46-9CAF-905AED6C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29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C94A3A"/>
                </a:solidFill>
                <a:latin typeface="Microsoft YaHei UI"/>
                <a:ea typeface="Microsoft YaHei UI"/>
                <a:cs typeface="Microsoft YaHei UI"/>
              </a:rPr>
              <a:t>deny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D14B90-9B6C-4442-A6DD-A62D1636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1490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验证码 + 付款等风险</a:t>
            </a:r>
          </a:p>
          <a:p xmlns:a="http://schemas.openxmlformats.org/drawingml/2006/main">
            <a:pPr algn="l">
              <a:defRPr sz="863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直接拒绝继续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E9F9F5-C46C-4E61-BFDD-D3E76F44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533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E950BC-550A-486D-A698-E05CD868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24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安全输出必须拆成三层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AAB504-74A9-4C6E-AD2A-9A415604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86300"/>
            <a:ext cx="466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DE7E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DDE7E0"/>
                </a:solidFill>
                <a:latin typeface="Microsoft YaHei UI"/>
                <a:ea typeface="Microsoft YaHei UI"/>
                <a:cs typeface="Microsoft YaHei UI"/>
              </a:rPr>
              <a:t>事实：页面出现“输入验证码”和“授权付款”。</a:t>
            </a:r>
          </a:p>
          <a:p xmlns:a="http://schemas.openxmlformats.org/drawingml/2006/main">
            <a:pPr algn="l">
              <a:defRPr sz="900" b="0">
                <a:solidFill>
                  <a:srgbClr val="DDE7E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DDE7E0"/>
                </a:solidFill>
                <a:latin typeface="Microsoft YaHei UI"/>
                <a:ea typeface="Microsoft YaHei UI"/>
                <a:cs typeface="Microsoft YaHei UI"/>
              </a:rPr>
              <a:t>推断：这可能是付款授权流程。</a:t>
            </a:r>
          </a:p>
          <a:p xmlns:a="http://schemas.openxmlformats.org/drawingml/2006/main">
            <a:pPr algn="l">
              <a:defRPr sz="900" b="0">
                <a:solidFill>
                  <a:srgbClr val="DDE7E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DDE7E0"/>
                </a:solidFill>
                <a:latin typeface="Microsoft YaHei UI"/>
                <a:ea typeface="Microsoft YaHei UI"/>
                <a:cs typeface="Microsoft YaHei UI"/>
              </a:rPr>
              <a:t>建议：不要输入验证码，先联系家人或官方客服。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69D4C9-295A-4274-B489-3ED2E7A1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3BABD8-025E-43FC-A41D-03D8DD0E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1827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0">
                <a:solidFill>
                  <a:srgbClr val="718277"/>
                </a:solidFill>
                <a:latin typeface="Microsoft YaHei UI"/>
                <a:ea typeface="Microsoft YaHei UI"/>
                <a:cs typeface="Microsoft YaHei UI"/>
              </a:rPr>
              <a:t>AccessPilot | Gemma Hackathon Pitch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568C86-4384-4A6E-AC5A-A3CF283E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7088926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FDFC61-9781-402C-89BA-FDBEACB1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603F756F-3044-40C6-B243-374FB087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9F444B35-0254-4B2A-BDD3-7947084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F10AB-B934-4D5F-9FAE-E090E662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实施路线从稳定 demo 开始，再逐步替换真实模型和工具。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A32E3-C4C4-4FA1-906E-8E9E2F06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962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DEAAC-8842-4493-9777-5B783FB0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07473-17C9-4DCE-83C3-376B94CE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861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30B1E-3466-4950-BBDB-83F46652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稳定可演示原型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3A907-52FD-48DC-9C76-ACF4198C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deterministic demo / 四条 loop / Privacy Firewall 可视化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5B5CA-04CA-4D22-AA18-0D2040C5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528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7F8E8-7877-4767-9314-F01103E4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861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V2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27108-AAA1-4F70-820E-03EB68BF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719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Gemma 云端 Planner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A431E-CC91-4340-A1F6-E809D321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1010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planner adapter / function calling / 结构化输出校验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E9A72B-334C-4A3A-9985-69407449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528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8FF61-FA8A-41F0-B0B2-D0B2F6A4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861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V3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107405-8FC3-4696-8091-C36E3B2F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719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Android 端侧观察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668784-4D01-420F-9961-EE9943B0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1010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AccessibilityService / NotificationListener / OCR / 本地路由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2F50D2-B274-4FB7-8920-D19D82EF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528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87A14-2B23-450A-9E6B-51CB3934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861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V4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A41502-C041-4E5A-9D84-FF5BFE8E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719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Gemma Edge 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A17013-65F3-46C4-A0FC-546350F9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1010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端侧摘要 / 敏感信息检测 / 低风险本地建议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E916DA-2F41-4FC5-B797-61F4AF6E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5280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5C9B57-3E3C-4CC0-B779-B6E23AA4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861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V5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23690E-3BC6-4CBD-A354-AFE3FDD2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719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OpenClaw 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295560-8A87-43A7-93EC-1C1BC5FA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1010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allowlist tools / action replay / guard 前后置检查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DB051F-C4DB-47A6-9DA5-3CCEF809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A92883-722C-45C6-8075-371178FD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5785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路线策略：先把产品闭环、安全边界和演示稳定性做扎实，再接入真实模型与系统权限。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23E894-C10A-4CD8-B506-4DFBAC44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889BBA-6DDF-4577-B9F7-75F74060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1827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0">
                <a:solidFill>
                  <a:srgbClr val="718277"/>
                </a:solidFill>
                <a:latin typeface="Microsoft YaHei UI"/>
                <a:ea typeface="Microsoft YaHei UI"/>
                <a:cs typeface="Microsoft YaHei UI"/>
              </a:rPr>
              <a:t>AccessPilot | Gemma Hackathon Pitch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F96192-CE96-4B78-BF02-F13B2AEC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711766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2EEDA3-E526-40F4-BA8D-3404CEB9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0F114BAE-34B6-4332-A703-9B0C1639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81DBCF8B-FA0B-4CB2-9C2C-3217D7B1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WHY IT WINS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CC2BE-E937-429E-B4ED-A8B252CD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AccessPilot 同时满足真实影响力、技术深度和可运行 demo。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4D5A7-2803-4BFB-B1CF-4848E97E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9829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2B33B-1055-4F06-9398-53A00C57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52E95-B0F2-4451-AF03-BD90F662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4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2F6F46"/>
                </a:solidFill>
                <a:latin typeface="Microsoft YaHei UI"/>
                <a:ea typeface="Microsoft YaHei UI"/>
                <a:cs typeface="Microsoft YaHei UI"/>
              </a:rPr>
              <a:t>真实影响力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2CEF9-F4EC-4028-AEC4-6412D8B0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81250"/>
            <a:ext cx="676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帮助老人处理手机页面、验证码、权限和远程求助。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1346A-F143-41DE-BA07-C7C59D52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9829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0C5AA-A069-4FA3-B344-AEE35F84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B24EAE-CA9E-4A62-83BA-1F49507A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2D6CDF"/>
                </a:solidFill>
                <a:latin typeface="Microsoft YaHei UI"/>
                <a:ea typeface="Microsoft YaHei UI"/>
                <a:cs typeface="Microsoft YaHei UI"/>
              </a:rPr>
              <a:t>技术深度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E2C6D-42FA-4B9D-9517-12741387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05200"/>
            <a:ext cx="676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端侧观察 + 隐私防火墙 + 云端规划 + 工具执行 + Safety Guard。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6AB504-73A2-415E-A7BD-E757E25E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9829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3E129-1EFE-4533-9172-7D8D35A1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A3D7D-168B-48A4-B229-9425AF4A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01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6A23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E6A23C"/>
                </a:solidFill>
                <a:latin typeface="Microsoft YaHei UI"/>
                <a:ea typeface="Microsoft YaHei UI"/>
                <a:cs typeface="Microsoft YaHei UI"/>
              </a:rPr>
              <a:t>可运行 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42C0DE-DD81-4C45-A1CD-520E4C3B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29150"/>
            <a:ext cx="676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四条稳定闭环，明确当前是 mock，后续可替换真实 Gemma / OpenClaw。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40FE30-2F2E-47FB-97E0-0EC0610F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E09534-6165-4945-9917-960CEE7E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路演结尾句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1347D0-8795-48A1-A139-DD8B9FA5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483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8231D"/>
                </a:solidFill>
                <a:latin typeface="Microsoft YaHei UI"/>
                <a:ea typeface="Microsoft YaHei UI"/>
                <a:cs typeface="Microsoft YaHei UI"/>
              </a:rPr>
              <a:t>我们不是把老人手机屏幕丢给云端，而是在端侧保护隐私，在云端处理复杂规划，并让每个高风险动作停在确认之前。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F9786E-868F-451B-AECC-C6F45745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CDED0-22CD-45FC-9C39-ABC0186A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1827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0">
                <a:solidFill>
                  <a:srgbClr val="718277"/>
                </a:solidFill>
                <a:latin typeface="Microsoft YaHei UI"/>
                <a:ea typeface="Microsoft YaHei UI"/>
                <a:cs typeface="Microsoft YaHei UI"/>
              </a:rPr>
              <a:t>AccessPilot | Demo-ready edge-cloud GUI 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C88677-9CD8-407D-8765-5BBC1AB6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607065"/>
                </a:solidFill>
                <a:latin typeface="Microsoft YaHei UI"/>
                <a:ea typeface="Microsoft YaHei UI"/>
                <a:cs typeface="Microsoft YaHei U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46298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2026-05-19T07:37:13.6490000Z</dcterms:created>
  <dcterms:modified xsi:type="dcterms:W3CDTF">2026-05-19T07:37:13.6490000Z</dcterms:modified>
</coreProperties>
</file>